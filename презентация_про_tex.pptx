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34"/>
  </p:notesMasterIdLst>
  <p:sldIdLst>
    <p:sldId id="256" r:id="rId3"/>
    <p:sldId id="268" r:id="rId4"/>
    <p:sldId id="269" r:id="rId5"/>
    <p:sldId id="271" r:id="rId6"/>
    <p:sldId id="270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2" r:id="rId26"/>
    <p:sldId id="291" r:id="rId27"/>
    <p:sldId id="293" r:id="rId28"/>
    <p:sldId id="294" r:id="rId29"/>
    <p:sldId id="295" r:id="rId30"/>
    <p:sldId id="296" r:id="rId31"/>
    <p:sldId id="297" r:id="rId32"/>
    <p:sldId id="258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gjHbnBt8ByY3d5mhhDq3yYXGPJ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23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46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RU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d2032521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d20325218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2d20325218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Второй слайд </a:t>
            </a:r>
            <a:endParaRPr/>
          </a:p>
        </p:txBody>
      </p:sp>
      <p:sp>
        <p:nvSpPr>
          <p:cNvPr id="72" name="Google Shape;72;p1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6B7859C0-B78D-8C0A-3DD8-F16A0C0B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0A666A9B-6044-EBB6-5B9F-EC71E8DC2F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90A8EC1D-CD83-DD60-6355-DDF095FA79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90FE3C9D-F181-1962-28E9-544A28AE023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4967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3FE0B98-9EC8-D23A-C898-7600972BC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37DFC638-408B-A3C4-D71F-0A70A4718B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6AEFB3E6-312D-C2F3-F198-D01C31A85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AB9BB560-36ED-2F84-9D7C-86A5153E1E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4387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D7CCB4E-AE3B-A66B-9209-D4450F86B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9E2A4BC6-FC72-1115-3546-7A004A010A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3364949B-04C3-9EB8-9D32-2922529BC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A05EE123-D346-10AD-C55E-1EE66B97EA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492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C3C3FFE-4432-BB62-ECA9-74B5FA8BF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EA2BEA28-2647-F97F-C3E9-13DA51DE28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A3FE3CD9-A873-8C6C-A320-8E4C829E8A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66F774CD-BA6F-8D62-1103-73002D40A6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7448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3C0F5D7-C4E1-D65A-835D-D266E049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097AFCCA-9EBA-493A-5F57-5216E7D56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24F955AF-F115-75AB-4367-E73819194C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30CFE5EC-41B8-C313-ECEB-410416CFBF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5898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04EEFD2-AAB5-0AEA-F652-C2A610062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7996588B-151F-33DE-FA75-94EB3CF2C0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A9C28B94-4B17-A270-DB58-DE807A7307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B362573F-B684-0D65-AC6A-F279D8FB6A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1801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B2BA827-7439-B0C5-A952-C28B9D493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43D2E451-0426-EBE4-9990-1799163194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8B469D40-878A-3B06-A670-02BA89E6DF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15628D49-1021-7561-9637-3F5B1F0EE8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2380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169520CE-B46E-1129-731A-6D762CE3D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1C97BE55-1064-0EC3-29EF-04970CB183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00198C43-6BF3-BAAB-B5E6-A0FEB10164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E8EAD3F1-A66A-8C17-D5C4-42C7AA5E42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76867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1E09689-39EF-5E31-1432-CE30FE2C6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7D431F0F-7353-C49D-5032-E062E1DCE9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D4EDB4A4-CB40-09BE-7A2C-80C4C66F42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140EB7E0-A9AD-817C-1B38-EF102A01BF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9173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2163D80-85DA-59D3-A0F3-5FD5E9A9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61F8E861-23CE-BFFE-B3AC-A79ACE76EE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32BBFD22-DC98-FA4D-0BA9-EE27ED187A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DC4FE35C-D1AE-3950-9F04-1229FB1ED0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14832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A00B56E-260B-E178-F347-50FD85B66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3AFF4813-B1C6-60F0-BB13-9D1E6A0D68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58017FD6-0CAC-35D3-AB76-5B52C5276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477CC4F1-A2E7-00D1-5B8C-C5AAF9A0E7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4586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EA2E65E2-DFE0-E1B7-8D18-905028F5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67CC18CD-B885-4745-A065-01B9E1348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BAE5B0C5-E637-9C50-8E8F-4C106352FD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013C7947-50C4-BAE6-9FA8-BD6FAC82FA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3877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5D9B049-7B0E-ECF4-EFA9-867F87C6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DA2B4482-A283-0D88-FB2F-696BF17A3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5EF003F5-D8D1-E07B-7B6C-80B70BEF9B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0C291C13-84D9-3149-9A79-7AEC00EB0F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25056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880575B-E9D8-C8FB-35A1-B390ECB0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7CB4AA6A-22CB-8571-8BC6-2E8F15970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8519B0D9-CCCE-A857-5460-29CEB77836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486E18D9-51C4-ADE0-997A-3BA7ACB938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0035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81450F2-0A7F-9D73-6709-E84C24949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7CB91301-D260-3240-AE49-E6DC25830B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34760FC9-B9E5-9C37-095B-28BD142D77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056D86E3-0F02-3252-1156-72F6F6C564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17661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46A2711F-A387-728E-E6C7-7751413E2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E79B8D14-F210-EF63-B47B-1CA56AC4F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A76161A3-A200-1610-CEAC-836F40282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E3809698-CF30-1E4A-DF96-A309956972A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82482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917107F-EC2B-2915-ED41-D38E1C2C1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A6120194-F102-29F5-CD6B-6E7FA8035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9B7FF17B-D51F-7FEF-2C9B-DFB4C39B8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6F8FF064-A2FA-6A6B-7B33-00043AE6E1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36170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28F9629-9D09-43CF-05B4-CBB4AEF23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C15CB36F-4A30-FE4D-CE57-ED6856796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917D55F2-7D3D-D999-3B0D-DCA04723CD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838CC42B-EA88-189A-06E0-C425EDBF85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04278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20E9F6F-D6B8-3452-2978-6AAD9AA4A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EA608CEF-A2C7-E3A8-18CC-B82B36A975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8A2007C0-112C-A7BF-B0F6-C0D2BC3767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1466F4F9-27E2-F0E6-7537-B45242D180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80342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178F4B9-CA23-EFF5-D408-BF27AA46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D5120B97-1878-4E37-6240-9B39563C96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2DE8BF40-A3D3-B1A5-9DD9-C3A57942C4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2B2F33D0-32F5-2AB3-E220-A3E268F987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1102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03FEC77-47D5-E80A-96B8-AB30C69C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9EEF6E70-9ECF-B863-4E1B-39FDA91F2B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72170AE3-578D-C954-47F3-65E14CF5A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DDBFBBF9-4622-13B9-FF17-4E6B0F8C68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73922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FB806D06-515A-AFE5-98D2-62A8803A7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6F50720D-B712-A2AF-AFE7-0CE71F08B2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7702D5BB-F2C3-FC38-A588-2F5C819343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C775AD69-9402-0F3B-B235-BDF80034CB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92213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1E465BF-8DD0-5022-5BF0-30BF9A33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C2E28B21-EDB0-F524-9C4E-AF7E37E7B3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14156F5E-F453-05C9-F945-FA6DEBFC5B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CB9E90A4-DA25-3137-2E18-D1C59BAE67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19386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75EC8C8-1CD8-3272-3C20-A18C306FD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0D71B376-2E5C-6973-0C4A-85A5D47C75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02CFC25A-2C4F-DC93-F3FF-1AD6FBF17F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F6F148D1-8B9E-B128-5EBB-E81FE7D62D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19796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D2929380-5816-73A2-B1ED-A96C4BEC5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0BA2B0C9-1E97-7B6B-D760-6678D06434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F3642241-6DB4-7A96-1437-913EDD0F2B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D623109C-FFB7-3CA6-79DB-7784267984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96666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A49C5DB-2C64-CAE9-ADD6-FAB7CD10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1C833048-474D-ED37-AC6A-CC922A4AFD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FE2E2906-1F78-339C-ECFD-40E66A61E8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8D9A188E-0096-2F8F-CC9F-41C00BEDF4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01158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BFF1BAC2-7E04-C86D-983E-0788D526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>
            <a:extLst>
              <a:ext uri="{FF2B5EF4-FFF2-40B4-BE49-F238E27FC236}">
                <a16:creationId xmlns:a16="http://schemas.microsoft.com/office/drawing/2014/main" id="{4C9D2950-F5CE-9E9B-76BC-F5C750AE5D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2:notes">
            <a:extLst>
              <a:ext uri="{FF2B5EF4-FFF2-40B4-BE49-F238E27FC236}">
                <a16:creationId xmlns:a16="http://schemas.microsoft.com/office/drawing/2014/main" id="{BF2C6E66-E22A-27F9-1A3C-3DD87ED3E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Третий слайд</a:t>
            </a:r>
            <a:endParaRPr/>
          </a:p>
        </p:txBody>
      </p:sp>
      <p:sp>
        <p:nvSpPr>
          <p:cNvPr id="83" name="Google Shape;83;p2:notes">
            <a:extLst>
              <a:ext uri="{FF2B5EF4-FFF2-40B4-BE49-F238E27FC236}">
                <a16:creationId xmlns:a16="http://schemas.microsoft.com/office/drawing/2014/main" id="{D73B215A-8BC0-4752-3859-2E62C21870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27435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Финальный слайд </a:t>
            </a:r>
            <a:endParaRPr/>
          </a:p>
        </p:txBody>
      </p:sp>
      <p:sp>
        <p:nvSpPr>
          <p:cNvPr id="93" name="Google Shape;93;p3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ru-RU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 Al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1345800" y="2029112"/>
            <a:ext cx="9500400" cy="19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b" anchorCtr="0">
            <a:normAutofit/>
          </a:bodyPr>
          <a:lstStyle>
            <a:lvl1pPr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2109000" y="4608733"/>
            <a:ext cx="7974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lvl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8" name="Google Shape;1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2756" y="960319"/>
            <a:ext cx="2626489" cy="639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732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Титульный слайд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8300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subTitle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213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Title,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4626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itle, 2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1844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2161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Centered 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subTitle" idx="1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303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itle, 2 Content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648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Title Content and 2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3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3083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itle, 2 Content over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2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3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6828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Title, Content over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body" idx="2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728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Title, 4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body" idx="2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body" idx="3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4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998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body" idx="2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3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4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5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6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926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356400" y="219600"/>
            <a:ext cx="10692000" cy="1359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spAutoFit/>
          </a:bodyPr>
          <a:lstStyle>
            <a:lvl1pPr marR="0" lvl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356399" y="1948100"/>
            <a:ext cx="106920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ftr" idx="11"/>
          </p:nvPr>
        </p:nvSpPr>
        <p:spPr>
          <a:xfrm>
            <a:off x="356398" y="6134400"/>
            <a:ext cx="106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11512550" y="304800"/>
            <a:ext cx="489609" cy="42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0" marR="0" lvl="0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1800" b="0" i="0" u="none" strike="noStrike" cap="non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RU"/>
              <a:t>‹#›</a:t>
            </a:fld>
            <a:endParaRPr/>
          </a:p>
        </p:txBody>
      </p:sp>
      <p:pic>
        <p:nvPicPr>
          <p:cNvPr id="14" name="Google Shape;1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61289" y="6123721"/>
            <a:ext cx="1640872" cy="39068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025550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203252186_0_0"/>
          <p:cNvSpPr txBox="1">
            <a:spLocks noGrp="1"/>
          </p:cNvSpPr>
          <p:nvPr>
            <p:ph type="ctrTitle"/>
          </p:nvPr>
        </p:nvSpPr>
        <p:spPr>
          <a:xfrm>
            <a:off x="1345800" y="2029112"/>
            <a:ext cx="9500400" cy="1944000"/>
          </a:xfrm>
          <a:prstGeom prst="rect">
            <a:avLst/>
          </a:prstGeom>
        </p:spPr>
        <p:txBody>
          <a:bodyPr spcFirstLastPara="1" wrap="square" lIns="90000" tIns="0" rIns="90000" bIns="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Что такое </a:t>
            </a:r>
            <a:r>
              <a:rPr lang="en-US"/>
              <a:t>TeX</a:t>
            </a:r>
            <a:r>
              <a:rPr lang="ru-RU"/>
              <a:t> и зачем он нужен</a:t>
            </a:r>
            <a:r>
              <a:rPr lang="en-US"/>
              <a:t>?</a:t>
            </a:r>
            <a:endParaRPr/>
          </a:p>
        </p:txBody>
      </p:sp>
      <p:sp>
        <p:nvSpPr>
          <p:cNvPr id="73" name="Google Shape;73;g2d203252186_0_0"/>
          <p:cNvSpPr txBox="1">
            <a:spLocks noGrp="1"/>
          </p:cNvSpPr>
          <p:nvPr>
            <p:ph type="subTitle" idx="1"/>
          </p:nvPr>
        </p:nvSpPr>
        <p:spPr>
          <a:xfrm>
            <a:off x="2109000" y="4608733"/>
            <a:ext cx="7974000" cy="725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ru-RU"/>
              <a:t>Алексей Осипов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"/>
          <p:cNvPicPr preferRelativeResize="0"/>
          <p:nvPr/>
        </p:nvPicPr>
        <p:blipFill rotWithShape="1">
          <a:blip r:embed="rId3">
            <a:alphaModFix amt="80000"/>
          </a:blip>
          <a:srcRect/>
          <a:stretch/>
        </p:blipFill>
        <p:spPr>
          <a:xfrm>
            <a:off x="0" y="5346000"/>
            <a:ext cx="12191760" cy="151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"/>
          <p:cNvSpPr txBox="1"/>
          <p:nvPr/>
        </p:nvSpPr>
        <p:spPr>
          <a:xfrm>
            <a:off x="487652" y="3593747"/>
            <a:ext cx="4553146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3200" b="1"/>
              <a:t>Осипов Алексей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9" name="Google Shape;79;p1"/>
          <p:cNvSpPr txBox="1"/>
          <p:nvPr/>
        </p:nvSpPr>
        <p:spPr>
          <a:xfrm>
            <a:off x="5769204" y="835920"/>
            <a:ext cx="6159308" cy="2197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800" b="1"/>
              <a:t>Руководитель </a:t>
            </a:r>
            <a:r>
              <a:rPr lang="en-US" sz="1800" b="1"/>
              <a:t>DSML</a:t>
            </a:r>
            <a:r>
              <a:rPr lang="ru-RU" sz="1800" b="1"/>
              <a:t>-команды</a:t>
            </a: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800" b="1">
                <a:solidFill>
                  <a:srgbClr val="A4C80D"/>
                </a:solidFill>
              </a:rPr>
              <a:t>Проекты </a:t>
            </a:r>
            <a:r>
              <a:rPr lang="en-US" sz="1800" b="1">
                <a:solidFill>
                  <a:srgbClr val="A4C80D"/>
                </a:solidFill>
              </a:rPr>
              <a:t>ZAVODIT,</a:t>
            </a:r>
            <a:r>
              <a:rPr lang="ru-RU" sz="1800" b="1">
                <a:solidFill>
                  <a:srgbClr val="A4C80D"/>
                </a:solidFill>
              </a:rPr>
              <a:t> </a:t>
            </a:r>
            <a:r>
              <a:rPr lang="en-US" sz="1800" b="1">
                <a:solidFill>
                  <a:srgbClr val="A4C80D"/>
                </a:solidFill>
              </a:rPr>
              <a:t>USEKERN, </a:t>
            </a:r>
            <a:r>
              <a:rPr lang="ru-RU" sz="1800" b="1">
                <a:solidFill>
                  <a:srgbClr val="A4C80D"/>
                </a:solidFill>
              </a:rPr>
              <a:t>МКБ, </a:t>
            </a:r>
            <a:r>
              <a:rPr lang="en-US" sz="1800" b="1">
                <a:solidFill>
                  <a:srgbClr val="A4C80D"/>
                </a:solidFill>
              </a:rPr>
              <a:t>CORPPORTAL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4C80D"/>
              </a:buClr>
              <a:buSzPts val="2160"/>
              <a:buFont typeface="Arial"/>
              <a:buChar char="•"/>
              <a:tabLst/>
              <a:defRPr/>
            </a:pPr>
            <a:r>
              <a:rPr kumimoji="0" lang="ru-RU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Опыт работы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 </a:t>
            </a:r>
            <a:r>
              <a:rPr lang="ru-RU" sz="1800"/>
              <a:t>5+ лет руководитель</a:t>
            </a:r>
            <a:r>
              <a:rPr kumimoji="0" lang="ru-RU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, в Юзтех </a:t>
            </a:r>
            <a:r>
              <a:rPr lang="en-US" sz="1800"/>
              <a:t>2</a:t>
            </a:r>
            <a:r>
              <a:rPr kumimoji="0" lang="ru-RU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года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4C80D"/>
              </a:buClr>
              <a:buSzPts val="2160"/>
              <a:buFont typeface="Arial"/>
              <a:buChar char="•"/>
              <a:tabLst/>
              <a:defRPr/>
            </a:pPr>
            <a:r>
              <a:rPr lang="ru-RU" sz="1800"/>
              <a:t>Работаю с 2007-го года, знаком с </a:t>
            </a:r>
            <a:r>
              <a:rPr lang="en-US" sz="1800"/>
              <a:t>TeX </a:t>
            </a:r>
            <a:r>
              <a:rPr lang="ru-RU" sz="1800"/>
              <a:t>с 2004-го года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85750" marR="0" lvl="0" indent="-14859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4C80D"/>
              </a:buClr>
              <a:buSzPts val="216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A940709-C5BB-BA7F-AC7C-ED7ADD5428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204" y="2945730"/>
            <a:ext cx="6159308" cy="346681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C5F13D-7FA9-875D-B498-FFAE26B453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488" y="917466"/>
            <a:ext cx="5302342" cy="29753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/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О чем митап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/>
        </p:nvSpPr>
        <p:spPr>
          <a:xfrm>
            <a:off x="469856" y="1097100"/>
            <a:ext cx="6542683" cy="441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63599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  <a:tabLst/>
              <a:defRPr/>
            </a:pPr>
            <a:r>
              <a:rPr lang="ru-RU" sz="2800"/>
              <a:t>Что такое </a:t>
            </a:r>
            <a:r>
              <a:rPr lang="en-US" sz="2800"/>
              <a:t>TeX?</a:t>
            </a:r>
            <a:endParaRPr lang="ru-RU" sz="2800"/>
          </a:p>
          <a:p>
            <a:pPr marL="514350" marR="0" lvl="0" indent="-5143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Основные особенности 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TeX</a:t>
            </a:r>
            <a:endParaRPr kumimoji="0" lang="ru-RU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  <a:tabLst/>
              <a:defRPr/>
            </a:pPr>
            <a:r>
              <a:rPr lang="ru-RU" sz="2800"/>
              <a:t>Создание презентаций с </a:t>
            </a:r>
            <a:r>
              <a:rPr lang="en-US" sz="2800"/>
              <a:t>TeX</a:t>
            </a:r>
            <a:endParaRPr lang="ru-RU" sz="2800"/>
          </a:p>
          <a:p>
            <a:pPr marL="514350" marR="0" lvl="0" indent="-5143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AutoNum type="arabicPeriod"/>
              <a:tabLst/>
              <a:defRPr/>
            </a:pPr>
            <a:r>
              <a:rPr lang="ru-RU" sz="2800"/>
              <a:t>Создание постеров с </a:t>
            </a:r>
            <a:r>
              <a:rPr lang="en-US" sz="2800"/>
              <a:t>TeX</a:t>
            </a:r>
            <a:endParaRPr lang="ru-RU" sz="280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E429E3-3F5A-30CF-0FAF-4B4E004BFC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2326" y="1496183"/>
            <a:ext cx="3174437" cy="47793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44404745-8B1A-5F79-B378-E02284324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AE5448E6-E4B3-0977-404F-99E69E99BF2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9FCAAF87-409A-66E9-BB4C-65AC60DE81A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EF78F023-078C-61CE-C4E7-E800414E03F2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Пример </a:t>
            </a:r>
            <a:r>
              <a:rPr lang="en-US" sz="3200" b="1"/>
              <a:t>pdf</a:t>
            </a:r>
            <a:r>
              <a:rPr lang="ru-RU" sz="3200" b="1"/>
              <a:t>-файла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EF45A70C-B350-9A01-BD2B-E27556D4194D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F697CA-A738-64AE-70A7-06AB97AC7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1265" y="1509874"/>
            <a:ext cx="4589231" cy="453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385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049784B9-AC95-B4E0-D677-120E620DA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FB5B20DA-3F8E-BB84-D824-777BC80BEB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9A8E73C5-9766-D2CD-94F3-8D10B066F2C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6DEC802C-5419-2182-16E2-ED403449E028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Пример </a:t>
            </a: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tex</a:t>
            </a:r>
            <a:r>
              <a:rPr lang="ru-RU" sz="3200" b="1"/>
              <a:t>-</a:t>
            </a: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файла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EBF21D5D-50ED-1463-5912-62FFFC1D5BE8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853DBA-4C42-8063-71FA-66930109AB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94" y="1674099"/>
            <a:ext cx="10963373" cy="420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25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51FB5E83-3FCE-BA60-3DAE-6BAFE7BF8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DAF59855-D677-8B49-D582-061DCE9C919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2FD057C5-706B-E339-0239-EEFDBA36F9D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395B7CFB-DA35-EE32-19CA-6B9BE03B06FC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Что такое </a:t>
            </a: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TeX?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A87F3BE4-7268-F001-F4EF-A933262B58BD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BA3FAF85-0ED9-80CE-5870-C3A62000DA1B}"/>
              </a:ext>
            </a:extLst>
          </p:cNvPr>
          <p:cNvSpPr txBox="1"/>
          <p:nvPr/>
        </p:nvSpPr>
        <p:spPr>
          <a:xfrm>
            <a:off x="559940" y="1723749"/>
            <a:ext cx="5690859" cy="4106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63599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en-US" sz="2000"/>
              <a:t>TeX --- </a:t>
            </a:r>
            <a:r>
              <a:rPr lang="ru-RU" sz="2000"/>
              <a:t>система, компьютерной вёрстки, изобретённая Кнутом в 1970-х годах</a:t>
            </a:r>
            <a:endParaRPr lang="en-US" sz="2000"/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en-US" sz="2000"/>
              <a:t>LaTeX --- </a:t>
            </a:r>
            <a:r>
              <a:rPr lang="ru-RU" sz="2000"/>
              <a:t>самый популярный набор команд на базе </a:t>
            </a:r>
            <a:r>
              <a:rPr lang="en-US" sz="2000"/>
              <a:t>TeX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en-US" sz="2000"/>
              <a:t>pdfTeX </a:t>
            </a:r>
            <a:r>
              <a:rPr lang="ru-RU" sz="2000"/>
              <a:t>--- создание </a:t>
            </a:r>
            <a:r>
              <a:rPr lang="en-US" sz="2000"/>
              <a:t>pdf </a:t>
            </a:r>
            <a:r>
              <a:rPr lang="ru-RU" sz="2000"/>
              <a:t>напрямую без </a:t>
            </a:r>
            <a:r>
              <a:rPr lang="en-US" sz="2000"/>
              <a:t>dvi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en-US" sz="2000"/>
              <a:t>MikTeX --- TeX </a:t>
            </a:r>
            <a:r>
              <a:rPr lang="ru-RU" sz="2000"/>
              <a:t>для </a:t>
            </a:r>
            <a:r>
              <a:rPr lang="en-US" sz="2000"/>
              <a:t>Windows, </a:t>
            </a:r>
            <a:r>
              <a:rPr lang="ru-RU" sz="2000"/>
              <a:t>динамическая загрузка пакетов</a:t>
            </a:r>
            <a:endParaRPr lang="en-US" sz="2000"/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en-US" sz="2000"/>
              <a:t>BibTeX --- TeX </a:t>
            </a:r>
            <a:r>
              <a:rPr lang="ru-RU" sz="2000"/>
              <a:t>для списка литературы</a:t>
            </a:r>
            <a:endParaRPr lang="en-US" sz="2000"/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en-US" sz="2000"/>
              <a:t>Overleaf --- LaTeX </a:t>
            </a:r>
            <a:r>
              <a:rPr lang="ru-RU" sz="2000"/>
              <a:t>в облаке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E6CA550-06A9-FAA9-74AC-0D797F0A52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738" y="1798791"/>
            <a:ext cx="5077833" cy="379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8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2CD76B69-D5C2-C970-9D25-1910005C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8A396496-33DD-DAD5-9CF4-A1CCE5DCF4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B5C8C40D-5491-B109-50A5-EA7279A73DD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48510EEF-C298-F871-EE09-C126961B6E2B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3200" b="1"/>
              <a:t>Зачем выбирать </a:t>
            </a:r>
            <a:r>
              <a:rPr lang="en-US" sz="3200" b="1"/>
              <a:t>TeX?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CA9A7E64-D0F4-2DF8-0852-0305995DDBB0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4B035088-AA62-E384-79EA-6463D7BF77BB}"/>
              </a:ext>
            </a:extLst>
          </p:cNvPr>
          <p:cNvSpPr txBox="1"/>
          <p:nvPr/>
        </p:nvSpPr>
        <p:spPr>
          <a:xfrm>
            <a:off x="698122" y="1249012"/>
            <a:ext cx="4688235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63599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WYSIWYM</a:t>
            </a:r>
            <a:r>
              <a:rPr lang="en-US" sz="1800"/>
              <a:t> </a:t>
            </a:r>
            <a:r>
              <a:rPr lang="ru-RU" sz="1800"/>
              <a:t>вместо WYSIWYG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отличная работа с формулами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автоматизация (титульный лист, оглавление, список литературы</a:t>
            </a:r>
            <a:r>
              <a:rPr lang="en-US" sz="1800"/>
              <a:t>)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математические алгоритмы вёрстки (переносы слов, распределение слов по строке, распределение строк по странице)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использование различных шаблонов и типов документов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разделение на несколько файлов (аналог микросервисов и микрофронтов)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endParaRPr lang="ru-RU" sz="180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F01ABA-A041-D568-79F4-84A5FA4D0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6357" y="1707890"/>
            <a:ext cx="6611163" cy="291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647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EE86346A-2BC1-1876-06FA-DB83BB2B3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802293C9-EEF4-4B4D-3F89-EBAE0AD4C5E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CF9A3FB0-F3EA-6EF6-B44F-55CB9A41BA5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FFD5CF16-DCC7-ECFB-CEBC-4E5D16DDE6C2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Установка </a:t>
            </a: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TeX </a:t>
            </a: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под </a:t>
            </a: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W</a:t>
            </a:r>
            <a:r>
              <a:rPr lang="en-US" sz="3200" b="1"/>
              <a:t>indows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303D9C62-F5FF-219E-E943-8F446B9C7EB7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87F8FD7C-9C69-4AAB-D8B4-8D406C0B1F43}"/>
              </a:ext>
            </a:extLst>
          </p:cNvPr>
          <p:cNvSpPr txBox="1"/>
          <p:nvPr/>
        </p:nvSpPr>
        <p:spPr>
          <a:xfrm>
            <a:off x="698122" y="1085104"/>
            <a:ext cx="5071082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63599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Устанавливаем </a:t>
            </a:r>
            <a:r>
              <a:rPr lang="en-US" sz="1800"/>
              <a:t>MikTeX </a:t>
            </a:r>
            <a:br>
              <a:rPr lang="ru-RU" sz="1800"/>
            </a:br>
            <a:r>
              <a:rPr lang="en-US" sz="1800"/>
              <a:t>(</a:t>
            </a:r>
            <a:r>
              <a:rPr lang="ru-RU" sz="1800"/>
              <a:t>для </a:t>
            </a:r>
            <a:r>
              <a:rPr lang="en-US" sz="1800"/>
              <a:t>Ubuntu TeX Live)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Устанавливаем </a:t>
            </a:r>
            <a:r>
              <a:rPr lang="en-US" sz="1800"/>
              <a:t>TeXnicCenter </a:t>
            </a:r>
            <a:br>
              <a:rPr lang="ru-RU" sz="1800"/>
            </a:br>
            <a:r>
              <a:rPr lang="en-US" sz="1800"/>
              <a:t>(</a:t>
            </a:r>
            <a:r>
              <a:rPr lang="ru-RU" sz="1800"/>
              <a:t>для </a:t>
            </a:r>
            <a:r>
              <a:rPr lang="en-US" sz="1800"/>
              <a:t>Ubuntu TeXstudio)</a:t>
            </a:r>
            <a:endParaRPr lang="ru-RU" sz="1800"/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Конфигурируем </a:t>
            </a:r>
            <a:r>
              <a:rPr lang="en-US" sz="1800"/>
              <a:t>TeXnicCenter</a:t>
            </a:r>
            <a:r>
              <a:rPr lang="ru-RU" sz="1800"/>
              <a:t>, профиль </a:t>
            </a:r>
            <a:r>
              <a:rPr lang="en-US" sz="1800"/>
              <a:t>LaTeX =&gt; PDF</a:t>
            </a:r>
            <a:br>
              <a:rPr lang="ru-RU" sz="1800"/>
            </a:br>
            <a:r>
              <a:rPr lang="en-US" sz="1800"/>
              <a:t>(</a:t>
            </a:r>
            <a:r>
              <a:rPr lang="ru-RU" sz="1800"/>
              <a:t>для </a:t>
            </a:r>
            <a:r>
              <a:rPr lang="en-US" sz="1800"/>
              <a:t>Ubuntu </a:t>
            </a:r>
            <a:r>
              <a:rPr lang="ru-RU" sz="1800"/>
              <a:t>не нужно</a:t>
            </a:r>
            <a:r>
              <a:rPr lang="en-US" sz="1800"/>
              <a:t>)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Переводим с </a:t>
            </a:r>
            <a:r>
              <a:rPr lang="en-US" sz="1800"/>
              <a:t>ANSI </a:t>
            </a:r>
            <a:r>
              <a:rPr lang="ru-RU" sz="1800"/>
              <a:t>на </a:t>
            </a:r>
            <a:r>
              <a:rPr lang="en-US" sz="1800"/>
              <a:t>UTF-8</a:t>
            </a:r>
            <a:r>
              <a:rPr lang="ru-RU" sz="1800"/>
              <a:t> </a:t>
            </a:r>
            <a:br>
              <a:rPr lang="ru-RU" sz="1800"/>
            </a:br>
            <a:r>
              <a:rPr lang="en-US" sz="1800"/>
              <a:t>(</a:t>
            </a:r>
            <a:r>
              <a:rPr lang="ru-RU" sz="1800"/>
              <a:t>для </a:t>
            </a:r>
            <a:r>
              <a:rPr lang="en-US" sz="1800"/>
              <a:t>Ubuntu </a:t>
            </a:r>
            <a:r>
              <a:rPr lang="ru-RU" sz="1800"/>
              <a:t>не нужно</a:t>
            </a:r>
            <a:r>
              <a:rPr lang="en-US" sz="1800"/>
              <a:t>)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Настраиваем </a:t>
            </a:r>
            <a:r>
              <a:rPr lang="en-US" sz="1800"/>
              <a:t>MikTeX </a:t>
            </a:r>
            <a:r>
              <a:rPr lang="ru-RU" sz="1800"/>
              <a:t>на автоматическую установку пакетов по согласованию с пользователем</a:t>
            </a:r>
            <a:r>
              <a:rPr lang="en-US" sz="1800"/>
              <a:t> </a:t>
            </a:r>
            <a:br>
              <a:rPr lang="ru-RU" sz="1800"/>
            </a:br>
            <a:r>
              <a:rPr lang="en-US" sz="1800"/>
              <a:t>(</a:t>
            </a:r>
            <a:r>
              <a:rPr lang="ru-RU" sz="1800"/>
              <a:t>для </a:t>
            </a:r>
            <a:r>
              <a:rPr lang="en-US" sz="1800"/>
              <a:t>Ubuntu </a:t>
            </a:r>
            <a:r>
              <a:rPr lang="ru-RU" sz="1800"/>
              <a:t>принципиально не нужно</a:t>
            </a:r>
            <a:r>
              <a:rPr lang="en-US" sz="1800"/>
              <a:t>)</a:t>
            </a:r>
            <a:endParaRPr lang="ru-RU" sz="180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5B9546-CFEB-B094-9D16-05B0B9CE93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204" y="1559867"/>
            <a:ext cx="6192402" cy="348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98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8E9C279A-9E5A-D480-4B4D-3E82E0473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D5AB3EC6-E2FE-20EF-17B4-BF220844667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D96197A4-7EE2-3F8E-78B2-910A3FF6AD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B5551083-E768-33CC-5603-F497D9D46BD5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Особенности </a:t>
            </a: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TeX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1C0BF750-239F-2AB4-83CF-D023886ABBE7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2E6BAA24-6336-951D-CA9D-82B16BA782A4}"/>
              </a:ext>
            </a:extLst>
          </p:cNvPr>
          <p:cNvSpPr txBox="1"/>
          <p:nvPr/>
        </p:nvSpPr>
        <p:spPr>
          <a:xfrm>
            <a:off x="698122" y="1085104"/>
            <a:ext cx="5071082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63599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Команды начинаются с </a:t>
            </a:r>
            <a:r>
              <a:rPr lang="en-US" sz="1800"/>
              <a:t>\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en-US" sz="1800"/>
              <a:t>\\ </a:t>
            </a:r>
            <a:r>
              <a:rPr lang="ru-RU" sz="1800"/>
              <a:t>--- перенос строки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Формулы пишутся в </a:t>
            </a:r>
            <a:r>
              <a:rPr lang="en-US" sz="1800"/>
              <a:t>$ </a:t>
            </a:r>
            <a:r>
              <a:rPr lang="ru-RU" sz="1800"/>
              <a:t>или в </a:t>
            </a:r>
            <a:r>
              <a:rPr lang="en-US" sz="1800"/>
              <a:t>$$ </a:t>
            </a:r>
            <a:r>
              <a:rPr lang="ru-RU" sz="1800"/>
              <a:t>или по-другому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Разные виды тире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Много пробелов = один пробел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Много пустых строк = одна пустая строка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Одна пустая строка = новый абзац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Тип документа, шаблоны и шрифт в начале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C65C083-4F76-5CC1-3233-8ED2EDE85F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204" y="1652857"/>
            <a:ext cx="6267373" cy="240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831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4557FCF8-21CF-9E45-C614-4E328DB4A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8729DFB6-9F04-CDED-4F3B-FF15114998F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5478AE71-0A3C-FFFA-5184-CFF4D73D08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0AA63923-20DD-A140-5FDE-A8E65C1AA0A4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3200" b="1"/>
              <a:t>Структура </a:t>
            </a:r>
            <a:r>
              <a:rPr lang="en-US" sz="3200" b="1"/>
              <a:t>TeX </a:t>
            </a:r>
            <a:r>
              <a:rPr lang="ru-RU" sz="3200" b="1"/>
              <a:t>файла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8EE3F812-0032-B32A-987E-3F15E1AC984D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69C937FC-62E3-D81C-7C1D-3B25334C4A95}"/>
              </a:ext>
            </a:extLst>
          </p:cNvPr>
          <p:cNvSpPr txBox="1"/>
          <p:nvPr/>
        </p:nvSpPr>
        <p:spPr>
          <a:xfrm>
            <a:off x="698122" y="1085104"/>
            <a:ext cx="5071082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63599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Выбор типа документа и шрифта (</a:t>
            </a:r>
            <a:r>
              <a:rPr lang="en-US" sz="1800"/>
              <a:t>\documentclass[12pt]{article}</a:t>
            </a:r>
            <a:r>
              <a:rPr lang="ru-RU" sz="1800"/>
              <a:t>)</a:t>
            </a:r>
            <a:endParaRPr lang="en-US" sz="1800"/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Подключение пакетов (</a:t>
            </a:r>
            <a:r>
              <a:rPr lang="en-US" sz="1800"/>
              <a:t>\usepackage[english,russian]{babel}</a:t>
            </a:r>
            <a:r>
              <a:rPr lang="ru-RU" sz="1800"/>
              <a:t>)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Подключение стилистических файлов (</a:t>
            </a:r>
            <a:r>
              <a:rPr lang="en-US" sz="1800"/>
              <a:t>\input ast14.cli</a:t>
            </a:r>
            <a:r>
              <a:rPr lang="ru-RU" sz="1800"/>
              <a:t>)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Весь документ между тэгами </a:t>
            </a:r>
            <a:r>
              <a:rPr lang="en-US" sz="1800"/>
              <a:t>\begin{document}</a:t>
            </a:r>
            <a:r>
              <a:rPr lang="ru-RU" sz="1800"/>
              <a:t> и </a:t>
            </a:r>
            <a:r>
              <a:rPr lang="en-US" sz="1800"/>
              <a:t>\end{document}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1800"/>
              <a:t>Команды </a:t>
            </a:r>
            <a:r>
              <a:rPr lang="en-US" sz="1800"/>
              <a:t>\chapter{}, \section{}, \subsection{}</a:t>
            </a:r>
            <a:endParaRPr lang="ru-RU" sz="1800"/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en-US" sz="1800"/>
              <a:t>\maketitle</a:t>
            </a:r>
            <a:r>
              <a:rPr lang="ru-RU" sz="1800"/>
              <a:t> --- титульный лист</a:t>
            </a:r>
            <a:endParaRPr lang="en-US" sz="1800"/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en-US" sz="1800"/>
              <a:t>\tableofcontents --- </a:t>
            </a:r>
            <a:r>
              <a:rPr lang="ru-RU" sz="1800"/>
              <a:t>содержание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96242FB-5038-E855-E058-26D2212DE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204" y="1652857"/>
            <a:ext cx="6267373" cy="240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5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F5FB64B4-C15C-47E3-B800-74E54BB48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4C63320D-17B1-9D4F-FBD9-EF075B67869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1A962612-217A-4342-A167-81B52290870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8691352D-44CF-2236-7409-2C6E165E9E33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Цент</a:t>
            </a:r>
            <a:r>
              <a:rPr lang="ru-RU" sz="3200" b="1"/>
              <a:t>рирование и шрифты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253803E7-9691-64ED-9650-DC16DFE20900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6591E3F3-994F-BCD6-3288-380E802C00B4}"/>
              </a:ext>
            </a:extLst>
          </p:cNvPr>
          <p:cNvSpPr txBox="1"/>
          <p:nvPr/>
        </p:nvSpPr>
        <p:spPr>
          <a:xfrm>
            <a:off x="698122" y="1085104"/>
            <a:ext cx="5071082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63599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000"/>
              <a:t>Варианты центрирования</a:t>
            </a:r>
            <a:r>
              <a:rPr lang="en-US" sz="2000"/>
              <a:t>: </a:t>
            </a:r>
            <a:r>
              <a:rPr lang="en-US" sz="2000" b="1"/>
              <a:t>center, left, right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en-US" sz="2000" b="1"/>
              <a:t>\rm</a:t>
            </a:r>
            <a:r>
              <a:rPr lang="en-US" sz="2000"/>
              <a:t>, </a:t>
            </a:r>
            <a:r>
              <a:rPr lang="en-US" sz="2000" b="1"/>
              <a:t>\textrm</a:t>
            </a:r>
            <a:r>
              <a:rPr lang="en-US" sz="2000"/>
              <a:t> --- </a:t>
            </a:r>
            <a:r>
              <a:rPr lang="ru-RU" sz="2000"/>
              <a:t>обычный шрифт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en-US" sz="2000" b="1"/>
              <a:t>\it</a:t>
            </a:r>
            <a:r>
              <a:rPr lang="en-US" sz="2000"/>
              <a:t>, </a:t>
            </a:r>
            <a:r>
              <a:rPr lang="en-US" sz="2000" b="1"/>
              <a:t>\textit</a:t>
            </a:r>
            <a:r>
              <a:rPr lang="en-US" sz="2000"/>
              <a:t> --- </a:t>
            </a:r>
            <a:r>
              <a:rPr lang="ru-RU" sz="2000"/>
              <a:t>курсив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en-US" sz="2000" b="1"/>
              <a:t>\bf</a:t>
            </a:r>
            <a:r>
              <a:rPr lang="en-US" sz="2000"/>
              <a:t>, </a:t>
            </a:r>
            <a:r>
              <a:rPr lang="en-US" sz="2000" b="1"/>
              <a:t>\textbf</a:t>
            </a:r>
            <a:r>
              <a:rPr lang="en-US" sz="2000"/>
              <a:t> --- </a:t>
            </a:r>
            <a:r>
              <a:rPr lang="ru-RU" sz="2000"/>
              <a:t>жирный шрифт</a:t>
            </a:r>
            <a:endParaRPr lang="en-US" sz="2000"/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000"/>
              <a:t>Относительные шрифты</a:t>
            </a:r>
            <a:r>
              <a:rPr lang="en-US" sz="2000"/>
              <a:t>: </a:t>
            </a:r>
            <a:r>
              <a:rPr lang="en-US" sz="2000" b="1"/>
              <a:t>\small, \tiny, \large, \Large, \LARGE, \huge, \Huge</a:t>
            </a:r>
            <a:endParaRPr lang="ru-RU" sz="2000" b="1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1C6BED5-CCB9-874B-2D06-67B6579AD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204" y="1652857"/>
            <a:ext cx="6267373" cy="240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594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EBC0A36B-0D33-31BE-E421-117BF3CF4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2A21370B-0217-154A-AD3D-5BA0A6F247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2B8F1D83-1AA2-5375-301D-D9D8F88EBA7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9B059350-284C-B674-9581-00DED069964E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Списки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3A228DE6-79F3-C57C-5E36-556D2237F781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AB92CA73-1C1C-0FC0-2003-1415391F7D8E}"/>
              </a:ext>
            </a:extLst>
          </p:cNvPr>
          <p:cNvSpPr txBox="1"/>
          <p:nvPr/>
        </p:nvSpPr>
        <p:spPr>
          <a:xfrm>
            <a:off x="698122" y="1085104"/>
            <a:ext cx="5071082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63599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Нумерованные списки</a:t>
            </a:r>
            <a:r>
              <a:rPr lang="en-US" sz="2400"/>
              <a:t>: </a:t>
            </a:r>
            <a:r>
              <a:rPr lang="en-US" sz="2400" b="1"/>
              <a:t>\begin{enumerate}, \end{enumerate}</a:t>
            </a:r>
            <a:r>
              <a:rPr lang="en-US" sz="2400"/>
              <a:t>, </a:t>
            </a:r>
            <a:r>
              <a:rPr lang="ru-RU" sz="2400"/>
              <a:t>элемент </a:t>
            </a:r>
            <a:r>
              <a:rPr lang="en-US" sz="2400" b="1"/>
              <a:t>\item</a:t>
            </a:r>
            <a:r>
              <a:rPr lang="ru-RU" sz="2400"/>
              <a:t> или </a:t>
            </a:r>
            <a:r>
              <a:rPr lang="en-US" sz="2400" b="1"/>
              <a:t>\item[A]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Обычные списки</a:t>
            </a:r>
            <a:r>
              <a:rPr lang="en-US" sz="2400"/>
              <a:t>: </a:t>
            </a:r>
            <a:r>
              <a:rPr lang="en-US" sz="2400" b="1"/>
              <a:t>\begin{itemize}, \end{itemize}</a:t>
            </a:r>
            <a:r>
              <a:rPr lang="en-US" sz="2400"/>
              <a:t>, </a:t>
            </a:r>
            <a:r>
              <a:rPr lang="ru-RU" sz="2400"/>
              <a:t>элемент </a:t>
            </a:r>
            <a:r>
              <a:rPr lang="en-US" sz="2400" b="1"/>
              <a:t>\item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D89110-934C-BA6E-4BC7-947675023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81" y="1672048"/>
            <a:ext cx="5564926" cy="90136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8245FF4-0422-3FBC-5B95-2AC605F69D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81" y="3090960"/>
            <a:ext cx="5694798" cy="188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22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F0B2C7F0-E539-0823-F7FC-708C75720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0D638079-762D-816C-227B-9FE4202A16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88E5A134-6273-53D9-2E90-E85DD147655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EB9C4165-1592-8A9D-3893-5A39562C5B87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3200" b="1"/>
              <a:t>Формулы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E8CDB3E3-08AB-E9DA-63C7-A9433CB50F0E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11FA0CB3-65AD-5E86-D4FD-116A6BB35C08}"/>
              </a:ext>
            </a:extLst>
          </p:cNvPr>
          <p:cNvSpPr txBox="1"/>
          <p:nvPr/>
        </p:nvSpPr>
        <p:spPr>
          <a:xfrm>
            <a:off x="698121" y="1085104"/>
            <a:ext cx="5504715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63599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Формулы в строке</a:t>
            </a:r>
            <a:r>
              <a:rPr lang="en-US" sz="2400"/>
              <a:t>:</a:t>
            </a:r>
            <a:br>
              <a:rPr lang="en-US" sz="2400"/>
            </a:br>
            <a:r>
              <a:rPr lang="ru-RU" sz="1200" b="1"/>
              <a:t>$C^1$-неплотность орбитального свойства отслеживания.</a:t>
            </a:r>
            <a:endParaRPr lang="en-US" sz="1200" b="1"/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Выделенные формулы</a:t>
            </a:r>
            <a:r>
              <a:rPr lang="en-US" sz="2400"/>
              <a:t>:</a:t>
            </a:r>
            <a:br>
              <a:rPr lang="en-US" sz="2400"/>
            </a:br>
            <a:r>
              <a:rPr lang="en-US" sz="1200" b="1"/>
              <a:t>$$\left(\textrm{dist}(x_k,f^k(p))&lt;\epsilon\quad\textrm{</a:t>
            </a:r>
            <a:r>
              <a:rPr lang="ru-RU" sz="1200" b="1"/>
              <a:t>при }</a:t>
            </a:r>
            <a:r>
              <a:rPr lang="en-US" sz="1200" b="1"/>
              <a:t>k\in\textbf{Z}\qquad\textrm{</a:t>
            </a:r>
            <a:r>
              <a:rPr lang="ru-RU" sz="1200" b="1"/>
              <a:t>или}\</a:t>
            </a:r>
            <a:r>
              <a:rPr lang="en-US" sz="1200" b="1"/>
              <a:t>qquad\xi\subset N(\epsilon,O(p,f))\right)\!,$$</a:t>
            </a:r>
            <a:br>
              <a:rPr lang="en-US" sz="1200" b="1"/>
            </a:br>
            <a:r>
              <a:rPr lang="en-US" sz="2400"/>
              <a:t>(</a:t>
            </a:r>
            <a:r>
              <a:rPr lang="ru-RU" sz="2400"/>
              <a:t>можно также через </a:t>
            </a:r>
            <a:r>
              <a:rPr lang="en-US" sz="2400"/>
              <a:t>\begin{equation}</a:t>
            </a:r>
            <a:r>
              <a:rPr lang="ru-RU" sz="2400"/>
              <a:t> и </a:t>
            </a:r>
            <a:r>
              <a:rPr lang="en-US" sz="2400"/>
              <a:t>\end{equation})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Матрицы</a:t>
            </a:r>
            <a:r>
              <a:rPr lang="en-US" sz="2400"/>
              <a:t>:</a:t>
            </a:r>
            <a:br>
              <a:rPr lang="en-US" sz="2400"/>
            </a:br>
            <a:endParaRPr lang="en-US" sz="120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6F8A73-1F62-2734-3FC2-C6A9E5B01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660" y="1943678"/>
            <a:ext cx="4963218" cy="29531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8D25E3-C19C-9B83-EE45-C7E7C01D42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736" y="2730445"/>
            <a:ext cx="5477639" cy="33342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8BA963C-52EF-5563-77D1-3281F21AF6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174" y="4767623"/>
            <a:ext cx="5578148" cy="9930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40A3488-7B41-3035-123A-EE0B44BBA0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2184" y="4423051"/>
            <a:ext cx="5244745" cy="68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14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687D5707-D0E1-F049-FFC8-4FF254FD1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201F6E7A-56B7-9382-A7A7-787FDACAF94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01C9BBB0-2A4B-143A-EB8E-3EA40FAA49F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288068C9-1075-29B4-0A8B-26C03C0A9C69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Ссылки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5D2A4B85-069D-7845-1F52-AFAE71DF45E7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1C6F302B-D022-BAF3-B12A-982652FD778E}"/>
              </a:ext>
            </a:extLst>
          </p:cNvPr>
          <p:cNvSpPr txBox="1"/>
          <p:nvPr/>
        </p:nvSpPr>
        <p:spPr>
          <a:xfrm>
            <a:off x="698121" y="1085104"/>
            <a:ext cx="5504715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63599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000"/>
              <a:t>Команда </a:t>
            </a:r>
            <a:r>
              <a:rPr lang="en-US" sz="2000" b="1"/>
              <a:t>\label</a:t>
            </a:r>
            <a:r>
              <a:rPr lang="en-US" sz="2000"/>
              <a:t> </a:t>
            </a:r>
            <a:r>
              <a:rPr lang="ru-RU" sz="2000"/>
              <a:t>делает ссылку</a:t>
            </a:r>
            <a:r>
              <a:rPr lang="en-US" sz="2000"/>
              <a:t>:</a:t>
            </a:r>
            <a:br>
              <a:rPr lang="en-US" sz="2400"/>
            </a:br>
            <a:br>
              <a:rPr lang="en-US" sz="2400"/>
            </a:br>
            <a:endParaRPr lang="en-US" sz="2400"/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000"/>
              <a:t>Команда </a:t>
            </a:r>
            <a:r>
              <a:rPr lang="en-US" sz="2000" b="1"/>
              <a:t>\ref</a:t>
            </a:r>
            <a:r>
              <a:rPr lang="en-US" sz="2000"/>
              <a:t> </a:t>
            </a:r>
            <a:r>
              <a:rPr lang="ru-RU" sz="2000"/>
              <a:t>нужна для вызова</a:t>
            </a:r>
            <a:r>
              <a:rPr lang="en-US" sz="2000"/>
              <a:t>:</a:t>
            </a:r>
          </a:p>
          <a:p>
            <a:pPr lvl="0">
              <a:lnSpc>
                <a:spcPct val="120000"/>
              </a:lnSpc>
              <a:buSzPts val="2800"/>
              <a:defRPr/>
            </a:pPr>
            <a:r>
              <a:rPr lang="ru-RU" sz="1200" b="1"/>
              <a:t>орбитально $\epsilon$-отслеживает псевдотраекторию $\xi$, если выполняются неравенства~$(\ref{3})$.</a:t>
            </a:r>
            <a:endParaRPr lang="en-US" sz="1200" b="1"/>
          </a:p>
          <a:p>
            <a:pPr marL="171450" lvl="0" indent="-17145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endParaRPr lang="en-US" sz="1200" b="1"/>
          </a:p>
          <a:p>
            <a:pPr marL="171450" lvl="0" indent="-17145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000"/>
              <a:t>Данные команды используются не только для формул, но и для картинок, блоков текста и др.</a:t>
            </a:r>
          </a:p>
          <a:p>
            <a:pPr marL="171450" lvl="0" indent="-17145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000"/>
              <a:t>Для формул часто используют </a:t>
            </a:r>
            <a:r>
              <a:rPr lang="en-US" sz="2000" b="1"/>
              <a:t>\eqref</a:t>
            </a:r>
            <a:r>
              <a:rPr lang="en-US" sz="2000"/>
              <a:t> </a:t>
            </a:r>
            <a:r>
              <a:rPr lang="ru-RU" sz="2000"/>
              <a:t>вместо </a:t>
            </a:r>
            <a:r>
              <a:rPr lang="en-US" sz="2000" b="1"/>
              <a:t>\ref, </a:t>
            </a:r>
            <a:r>
              <a:rPr lang="ru-RU" sz="2000"/>
              <a:t>чтобы не писать скобки</a:t>
            </a:r>
            <a:endParaRPr lang="en-US" sz="2000" b="1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2BAAB6-B953-7D51-32AB-DCB2E0F70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85" y="2122729"/>
            <a:ext cx="5485206" cy="55448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55D8087-80A6-D6AA-A898-11BE192D7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4273" y="1832578"/>
            <a:ext cx="5386832" cy="55632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9AAEAC5-F4DF-7E59-9BB0-1F1AB8F8DA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3574" y="3001264"/>
            <a:ext cx="5107531" cy="57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41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46D6D48B-B25A-3489-DECB-BEEE23F8A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EFBD30EF-8160-2E3C-FE4D-AF53CA3FA9D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3EA878D1-FAD1-80DE-6E54-04AC5B23973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2C2880C9-BB9C-8A7A-321F-1B72FC61467C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Комментарии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730049EF-C10B-BC4E-1846-2DD60447E586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B7AF2D9-726F-8373-24F4-AB94221560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74" y="1955860"/>
            <a:ext cx="10967345" cy="8986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2F2752-1EE1-29E6-9A81-2FC39BB3AC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5476" y="3094756"/>
            <a:ext cx="4851134" cy="246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817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80E277E7-E374-A922-99FB-BC69E8F8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7F8B3F32-D6E0-2EDB-7C4B-25370C4E13C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D404A77F-0179-8483-76B5-2D7836CFDD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3AC8CBD0-126E-43C3-A95A-D39280DEDD50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Список литературы</a:t>
            </a: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примеры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147F4858-12D9-3022-0B25-4CF1B4D1C2CD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0BBD420-7027-8DFD-6F2B-192AB3D2EA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700" y="1453105"/>
            <a:ext cx="5239959" cy="464731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8D04EAF-0440-02C2-D022-EB77A03202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030" y="1885361"/>
            <a:ext cx="5240250" cy="230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95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8EAADE6C-8FB9-A585-5D9F-52363879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C864F17D-FF87-1715-0B36-58AF01570E3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FE5DC0BB-705D-5690-36B9-32C0500D938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F5D9150F-A2B6-2379-C03B-E8FE7A13FF25}"/>
              </a:ext>
            </a:extLst>
          </p:cNvPr>
          <p:cNvSpPr txBox="1"/>
          <p:nvPr/>
        </p:nvSpPr>
        <p:spPr>
          <a:xfrm>
            <a:off x="526501" y="38810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Список литературы</a:t>
            </a:r>
            <a:r>
              <a:rPr lang="en-US" sz="3200" b="1"/>
              <a:t>: </a:t>
            </a:r>
            <a:r>
              <a:rPr lang="ru-RU" sz="3200" b="1"/>
              <a:t>набор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3E6BE410-2C20-1E86-3FFB-45EE4A27FDF3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D269CA3-5947-816B-944D-318F7C898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105" y="1609043"/>
            <a:ext cx="10152668" cy="2053577"/>
          </a:xfrm>
          <a:prstGeom prst="rect">
            <a:avLst/>
          </a:prstGeom>
        </p:spPr>
      </p:pic>
      <p:sp>
        <p:nvSpPr>
          <p:cNvPr id="5" name="Google Shape;89;p2">
            <a:extLst>
              <a:ext uri="{FF2B5EF4-FFF2-40B4-BE49-F238E27FC236}">
                <a16:creationId xmlns:a16="http://schemas.microsoft.com/office/drawing/2014/main" id="{F8CD6A81-A439-4ACD-9005-DFC5F12E14DA}"/>
              </a:ext>
            </a:extLst>
          </p:cNvPr>
          <p:cNvSpPr txBox="1"/>
          <p:nvPr/>
        </p:nvSpPr>
        <p:spPr>
          <a:xfrm>
            <a:off x="742016" y="3391496"/>
            <a:ext cx="7220394" cy="3101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63599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2800"/>
              <a:defRPr/>
            </a:pPr>
            <a:r>
              <a:rPr lang="ru-RU" sz="2000"/>
              <a:t>Команда </a:t>
            </a:r>
            <a:r>
              <a:rPr lang="en-US" sz="2000" b="1"/>
              <a:t>\cite</a:t>
            </a:r>
            <a:r>
              <a:rPr lang="en-US" sz="2000"/>
              <a:t> </a:t>
            </a:r>
            <a:r>
              <a:rPr lang="ru-RU" sz="2000"/>
              <a:t>нужна для вызова</a:t>
            </a:r>
            <a:r>
              <a:rPr lang="en-US" sz="2000"/>
              <a:t>:</a:t>
            </a:r>
            <a:endParaRPr lang="en-US" sz="240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E97A67-F754-0664-09E8-9A003474F3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700" y="4572877"/>
            <a:ext cx="10273478" cy="73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934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9023F47B-350F-7916-E2FA-9EB24A0C4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C8E67D7F-4E69-81B2-211D-61EA04A3B1E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475AE35E-7A3D-25B0-2D28-728E0E7F168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39A288AE-E2EB-74E3-E56B-FEDA01F166D4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Разбиение на несколько файлов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A0C6625C-9B00-3B82-6629-0D1B2E6ECC59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1A3CE3-F3FB-C1F3-3F84-D6007E231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255" y="1971021"/>
            <a:ext cx="5750351" cy="180573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0495C2-952A-F9A9-F6D1-E67B2366F3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4819" y="1897827"/>
            <a:ext cx="6207181" cy="247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18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78A95735-2113-89AB-17B0-B9BF58AE3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B055F02C-137F-872E-FDBF-68AE41B47F1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28DD3110-8CA6-8272-8910-6713BF4C57A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38C38329-B307-0B9A-F440-BA83BF7CADD3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3200" b="1"/>
              <a:t>Что такое </a:t>
            </a:r>
            <a:r>
              <a:rPr lang="en-US" sz="3200" b="1"/>
              <a:t>beamer?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5BB959A5-9B21-93F3-6DAA-6FE789833AE7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E3ACF894-C4E0-1796-36F9-46663A0A0D6A}"/>
              </a:ext>
            </a:extLst>
          </p:cNvPr>
          <p:cNvSpPr txBox="1"/>
          <p:nvPr/>
        </p:nvSpPr>
        <p:spPr>
          <a:xfrm>
            <a:off x="302195" y="1531536"/>
            <a:ext cx="5504715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95301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Пакет для создания презентаций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95301" lvl="0" indent="-342900">
              <a:lnSpc>
                <a:spcPct val="120000"/>
              </a:lnSpc>
              <a:buSzPts val="2400"/>
              <a:buFont typeface="Arial" panose="020B0604020202020204" pitchFamily="34" charset="0"/>
              <a:buChar char="•"/>
              <a:defRPr/>
            </a:pPr>
            <a:r>
              <a:rPr lang="ru-RU" sz="2400"/>
              <a:t>\documentclass{beamer}</a:t>
            </a:r>
            <a:br>
              <a:rPr lang="en-US" sz="2400"/>
            </a:br>
            <a:r>
              <a:rPr lang="en-US" sz="2400"/>
              <a:t>\usetheme{Darmstadt}</a:t>
            </a:r>
          </a:p>
          <a:p>
            <a:pPr marL="495301" lvl="0" indent="-342900">
              <a:lnSpc>
                <a:spcPct val="120000"/>
              </a:lnSpc>
              <a:buSzPts val="2400"/>
              <a:buFont typeface="Arial" panose="020B0604020202020204" pitchFamily="34" charset="0"/>
              <a:buChar char="•"/>
              <a:defRPr/>
            </a:pPr>
            <a:r>
              <a:rPr lang="ru-RU" sz="2400">
                <a:latin typeface="Calibri"/>
                <a:ea typeface="Calibri"/>
                <a:cs typeface="Calibri"/>
                <a:sym typeface="Calibri"/>
              </a:rPr>
              <a:t>Фрейм --- это слайд </a:t>
            </a:r>
            <a:br>
              <a:rPr lang="en-US" sz="24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(\begin{frame}, \end{frame})</a:t>
            </a:r>
          </a:p>
          <a:p>
            <a:pPr marL="495301" lvl="0" indent="-342900">
              <a:lnSpc>
                <a:spcPct val="120000"/>
              </a:lnSpc>
              <a:buSzPts val="2400"/>
              <a:buFont typeface="Arial" panose="020B0604020202020204" pitchFamily="34" charset="0"/>
              <a:buChar char="•"/>
              <a:defRPr/>
            </a:pPr>
            <a:r>
              <a:rPr kumimoji="0" lang="ru-R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Блок --- это часть слайда 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(\begin{block}, \end{block})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endParaRPr lang="en-US" sz="2000" b="1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13712A4-CEFF-DF90-1B78-78969B70B1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760" y="1629424"/>
            <a:ext cx="6034244" cy="454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789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819C89DE-66ED-C264-098D-0C2ED39AF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D96CCB8E-1ADE-4044-DE35-8125E4AE1C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D7D17907-3629-05BF-2825-F5B90A88C43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863CC9D0-5DEF-B15B-A715-1896895AD16A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Смена темы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250C0934-E29E-F39C-AA75-31783D881DF0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88A204-0515-FBAF-A1B9-7BC65AE182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840" y="1520382"/>
            <a:ext cx="5314872" cy="399941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A161C60-5040-767E-DC59-8E0518F8A2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14" y="1459361"/>
            <a:ext cx="5426285" cy="408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836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263862FB-B649-D752-A0A9-F544EDF8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76E9ECE9-00A5-F2C2-DE59-704229059AF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1CEC7A60-6509-266F-12B9-11C1D3631E9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E669A50A-42AA-D7DD-DE9C-4AA399E4B70B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Смена </a:t>
            </a:r>
            <a:r>
              <a:rPr lang="ru-RU" sz="3200" b="1"/>
              <a:t>цвета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620BBBEF-A248-8A33-B1E0-0F1A054CD611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12185B-2207-7ACA-FD6F-B25B55BB7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14" y="1459361"/>
            <a:ext cx="5426285" cy="408459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8D7FF9-A5E3-9998-BE29-F1FE317775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841" y="1486364"/>
            <a:ext cx="5426285" cy="405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537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CE908E97-6C10-914D-9B34-3BB29CA2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DC965B86-B793-3A7B-0385-DE2E2AC2254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2C7EBBA5-BF99-726D-994F-B91A56962A6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09CC632D-35FD-4CFE-982E-CF163D494ED3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3200" b="1"/>
              <a:t>Пример с блоками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C7419012-6D0B-E593-9267-3170ED5B0BD7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E3D41B-9020-57F8-0B82-40FB0BBBF0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440" y="1816320"/>
            <a:ext cx="5487031" cy="282050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B6ECCA-98FD-C554-9531-548E560415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028" y="1576301"/>
            <a:ext cx="5936532" cy="440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687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5EDBDA35-0C51-2CCB-12CC-97730FAC6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B7319DD1-F2C2-742B-011E-75EB93E8771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BAB6E473-0085-705B-B4CD-C44B69FEE74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94630351-6464-1720-1896-E00602A8991B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Вставка картинок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166C25DE-B08C-0C5C-4DE8-3C57B8E18797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1B116D12-79B7-9D8A-9F3A-6A3E28167396}"/>
              </a:ext>
            </a:extLst>
          </p:cNvPr>
          <p:cNvSpPr txBox="1"/>
          <p:nvPr/>
        </p:nvSpPr>
        <p:spPr>
          <a:xfrm>
            <a:off x="302195" y="1531536"/>
            <a:ext cx="5504715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95301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ru-RU" sz="2400">
                <a:latin typeface="Calibri"/>
                <a:ea typeface="Calibri"/>
                <a:cs typeface="Calibri"/>
                <a:sym typeface="Calibri"/>
              </a:rPr>
              <a:t>Вставка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jpg/png:</a:t>
            </a:r>
            <a:br>
              <a:rPr lang="en-US" sz="2400">
                <a:latin typeface="Calibri"/>
                <a:ea typeface="Calibri"/>
                <a:cs typeface="Calibri"/>
                <a:sym typeface="Calibri"/>
              </a:rPr>
            </a:br>
            <a:endParaRPr lang="en-US" sz="2400">
              <a:latin typeface="Calibri"/>
              <a:ea typeface="Calibri"/>
              <a:cs typeface="Calibri"/>
              <a:sym typeface="Calibri"/>
            </a:endParaRPr>
          </a:p>
          <a:p>
            <a:pPr marL="495301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US" sz="2400" b="1">
              <a:latin typeface="Calibri"/>
              <a:ea typeface="Calibri"/>
              <a:cs typeface="Calibri"/>
              <a:sym typeface="Calibri"/>
            </a:endParaRPr>
          </a:p>
          <a:p>
            <a:pPr marL="495301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endParaRPr lang="en-US" sz="2400" b="1">
              <a:latin typeface="Calibri"/>
              <a:ea typeface="Calibri"/>
              <a:cs typeface="Calibri"/>
              <a:sym typeface="Calibri"/>
            </a:endParaRPr>
          </a:p>
          <a:p>
            <a:pPr marL="495301" marR="0" lvl="0" indent="-3429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  <a:tabLst/>
              <a:defRPr/>
            </a:pPr>
            <a:r>
              <a:rPr lang="ru-RU" sz="2400">
                <a:latin typeface="Calibri"/>
                <a:ea typeface="Calibri"/>
                <a:cs typeface="Calibri"/>
                <a:sym typeface="Calibri"/>
              </a:rPr>
              <a:t>Вставка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pdf/pdf_tex:</a:t>
            </a:r>
            <a:br>
              <a:rPr lang="en-US" sz="2400">
                <a:latin typeface="Calibri"/>
                <a:ea typeface="Calibri"/>
                <a:cs typeface="Calibri"/>
                <a:sym typeface="Calibri"/>
              </a:rPr>
            </a:br>
            <a:endParaRPr lang="en-US" sz="200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600221-C82A-D7A6-15D0-9473E393C9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595" y="2113433"/>
            <a:ext cx="3305636" cy="10764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D1AFB3-A14F-5BD2-38F2-D7B8C20AC9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595" y="3874683"/>
            <a:ext cx="3334215" cy="105742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BB9878-6285-DC1A-D4A1-1F585474F2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1675" y="1816320"/>
            <a:ext cx="4608199" cy="387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696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E0DC1773-96AA-7736-EE65-FE2D23BE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DBB1A21B-37A9-B675-3CA9-F635799203E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763CD2E2-527F-3736-6953-506E269143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57B189BC-F1A5-05BA-1F73-1A99C77175CA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3200" b="1"/>
              <a:t>Группировка картинок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834DF20A-AB8C-5CD9-B8AD-FE77C92AD2A5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FDB16D-2E1B-7530-7560-03B59E328F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749" y="1696006"/>
            <a:ext cx="5677531" cy="26491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EC9CC1-FC15-8538-49C8-57143FAB3D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9028" y="1591615"/>
            <a:ext cx="5890355" cy="385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43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11B6DF8B-02B1-C74C-0B41-F9B3B2972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6D42E9CB-8FFE-9B47-E815-C2FC73125BF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236D9912-F60E-F583-9E5D-CCFB0957842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8FD8C5BF-F238-FC9E-1FA4-EDE9D476F9F5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3200" b="1"/>
              <a:t>Рисование картинок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726C411E-F518-A865-7DD1-62EE7F91E8A1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2234149-39BF-681D-ABBB-1E7084E57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20" y="1594943"/>
            <a:ext cx="3552640" cy="441081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8B86FF9-1B6D-54B7-A5C3-1077C216A8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7982" y="2130458"/>
            <a:ext cx="5885842" cy="274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145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F2AEFF30-A1B1-8564-C25C-25B24D196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1E836E1E-94E9-7239-F37A-ED2E62BE27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5EEA532B-B4F3-B8FB-2DB8-C8D329247A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9F14C29A-9911-35F3-9627-91DE14816217}"/>
              </a:ext>
            </a:extLst>
          </p:cNvPr>
          <p:cNvSpPr txBox="1"/>
          <p:nvPr/>
        </p:nvSpPr>
        <p:spPr>
          <a:xfrm>
            <a:off x="-255059" y="48829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Создание постера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D9B3F029-CCEE-F1ED-EC5A-DD6650EBCD3F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B457F0-18FE-915F-5CC2-D9D4BDD634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442" y="1590975"/>
            <a:ext cx="3140878" cy="437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74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796F4A1F-DD1F-A647-4C34-12881A07A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5F912A83-0A2E-EE0E-A284-A576C2ABC4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61F5259E-3707-4682-6A3E-6E3D781C64E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BC62628B-29CB-8A59-7F2D-83BDC4590ABD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План создания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245BBABB-8614-650C-F61D-40CEA1303BC9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AB9B6F7F-80E4-7357-7E0E-0BDFC851119E}"/>
              </a:ext>
            </a:extLst>
          </p:cNvPr>
          <p:cNvSpPr txBox="1"/>
          <p:nvPr/>
        </p:nvSpPr>
        <p:spPr>
          <a:xfrm>
            <a:off x="370293" y="1928337"/>
            <a:ext cx="5504715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95301" lvl="0" indent="-342900">
              <a:lnSpc>
                <a:spcPct val="120000"/>
              </a:lnSpc>
              <a:buSzPts val="2400"/>
              <a:buFont typeface="Arial" panose="020B0604020202020204" pitchFamily="34" charset="0"/>
              <a:buChar char="•"/>
              <a:defRPr/>
            </a:pPr>
            <a:r>
              <a:rPr lang="ru-RU" sz="2000"/>
              <a:t>Шаг 1.</a:t>
            </a:r>
            <a:r>
              <a:rPr lang="en-US" sz="2000"/>
              <a:t> </a:t>
            </a:r>
            <a:r>
              <a:rPr lang="ru-RU" sz="2000"/>
              <a:t>Делаем </a:t>
            </a:r>
            <a:r>
              <a:rPr lang="en-US" sz="2000"/>
              <a:t>pdf </a:t>
            </a:r>
            <a:r>
              <a:rPr lang="ru-RU" sz="2000"/>
              <a:t>в формате </a:t>
            </a:r>
            <a:r>
              <a:rPr lang="en-US" sz="2000"/>
              <a:t>A0 </a:t>
            </a:r>
            <a:r>
              <a:rPr lang="ru-RU" sz="2000"/>
              <a:t>с помощью </a:t>
            </a:r>
            <a:r>
              <a:rPr lang="en-US" sz="2000"/>
              <a:t>beamer. </a:t>
            </a:r>
            <a:r>
              <a:rPr lang="ru-RU" sz="2000"/>
              <a:t>В презентации должен быть 1 фрейм, она состоит из блоков (</a:t>
            </a:r>
            <a:r>
              <a:rPr lang="en-US" sz="2000"/>
              <a:t>block</a:t>
            </a:r>
            <a:r>
              <a:rPr lang="ru-RU" sz="2000"/>
              <a:t>) и столбцов (</a:t>
            </a:r>
            <a:r>
              <a:rPr lang="en-US" sz="2000"/>
              <a:t>column</a:t>
            </a:r>
            <a:r>
              <a:rPr lang="ru-RU" sz="2000"/>
              <a:t>)</a:t>
            </a:r>
            <a:r>
              <a:rPr lang="en-US" sz="2000"/>
              <a:t>.</a:t>
            </a:r>
            <a:endParaRPr lang="en-US" sz="2400"/>
          </a:p>
          <a:p>
            <a:pPr marL="495301" lvl="0" indent="-342900">
              <a:lnSpc>
                <a:spcPct val="120000"/>
              </a:lnSpc>
              <a:buSzPts val="2400"/>
              <a:buFont typeface="Arial" panose="020B0604020202020204" pitchFamily="34" charset="0"/>
              <a:buChar char="•"/>
              <a:defRPr/>
            </a:pPr>
            <a:endParaRPr lang="en-US" sz="200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2FE93B-CD40-13A6-6E4E-EEBC40853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54" y="3844497"/>
            <a:ext cx="4882547" cy="265036"/>
          </a:xfrm>
          <a:prstGeom prst="rect">
            <a:avLst/>
          </a:prstGeom>
        </p:spPr>
      </p:pic>
      <p:sp>
        <p:nvSpPr>
          <p:cNvPr id="4" name="Google Shape;89;p2">
            <a:extLst>
              <a:ext uri="{FF2B5EF4-FFF2-40B4-BE49-F238E27FC236}">
                <a16:creationId xmlns:a16="http://schemas.microsoft.com/office/drawing/2014/main" id="{B4098FB2-CB70-A3E0-26AC-139C08A20C07}"/>
              </a:ext>
            </a:extLst>
          </p:cNvPr>
          <p:cNvSpPr txBox="1"/>
          <p:nvPr/>
        </p:nvSpPr>
        <p:spPr>
          <a:xfrm>
            <a:off x="6029028" y="2060855"/>
            <a:ext cx="5504715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495301" lvl="0" indent="-342900">
              <a:lnSpc>
                <a:spcPct val="120000"/>
              </a:lnSpc>
              <a:buSzPts val="2400"/>
              <a:buFont typeface="Arial" panose="020B0604020202020204" pitchFamily="34" charset="0"/>
              <a:buChar char="•"/>
              <a:defRPr/>
            </a:pPr>
            <a:r>
              <a:rPr lang="ru-RU" sz="2000"/>
              <a:t>Шаг </a:t>
            </a:r>
            <a:r>
              <a:rPr lang="en-US" sz="2000"/>
              <a:t>2</a:t>
            </a:r>
            <a:r>
              <a:rPr lang="ru-RU" sz="2000"/>
              <a:t>.</a:t>
            </a:r>
            <a:r>
              <a:rPr lang="en-US" sz="2000"/>
              <a:t> </a:t>
            </a:r>
            <a:r>
              <a:rPr lang="ru-RU" sz="2000"/>
              <a:t>Делаем типографский </a:t>
            </a:r>
            <a:r>
              <a:rPr lang="en-US" sz="2000"/>
              <a:t>pdf </a:t>
            </a:r>
            <a:r>
              <a:rPr lang="ru-RU" sz="2000"/>
              <a:t>в формате </a:t>
            </a:r>
            <a:r>
              <a:rPr lang="en-US" sz="2000"/>
              <a:t>A0.</a:t>
            </a:r>
            <a:endParaRPr lang="en-US" sz="2400"/>
          </a:p>
          <a:p>
            <a:pPr marL="495301" lvl="0" indent="-342900">
              <a:lnSpc>
                <a:spcPct val="120000"/>
              </a:lnSpc>
              <a:buSzPts val="2400"/>
              <a:buFont typeface="Arial" panose="020B0604020202020204" pitchFamily="34" charset="0"/>
              <a:buChar char="•"/>
              <a:defRPr/>
            </a:pPr>
            <a:endParaRPr lang="en-US" sz="200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F40A7DA-B28D-B828-3F11-BDFB54BAE6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4415" y="3844497"/>
            <a:ext cx="4229690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525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F04E2504-1174-BE09-5743-134AA1629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086C3EC6-ED3F-02F0-9839-9E3E7385F5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A6C20CA2-F518-808D-7E6E-7EE54DA1A2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BAB2465C-EF22-CE93-27F2-ADDEC6D3C0E3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Нарезка </a:t>
            </a: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A0 </a:t>
            </a: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на </a:t>
            </a: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A4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8E5A9CD6-CE59-B27F-9369-24CBF3DC5BB0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3B8ADE-74C3-012C-66D1-5D1258796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0411" y="1816320"/>
            <a:ext cx="6107857" cy="438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654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EC65A40C-E8E3-DD72-C8D1-517C1DE70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5027561B-B7B1-3AAA-1CEC-9F05F9513BC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A7E0CE72-FABE-8007-BDBF-C4982BA0D04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CB3CA155-1ECB-0440-7173-DE79E06A4FFE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Что может пойти не так</a:t>
            </a: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?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5A42F206-A3AE-5A6C-D812-2F4705BB0574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BFE0FDCE-D0FB-093A-012B-E25249EE8C44}"/>
              </a:ext>
            </a:extLst>
          </p:cNvPr>
          <p:cNvSpPr txBox="1"/>
          <p:nvPr/>
        </p:nvSpPr>
        <p:spPr>
          <a:xfrm>
            <a:off x="698121" y="1085104"/>
            <a:ext cx="5504715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63599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Проблемы с кодировкой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Проблемы с пакетами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Теряются стилистические файлы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Теряются файлы картинок</a:t>
            </a:r>
          </a:p>
          <a:p>
            <a:pPr marL="457200" lvl="0" indent="-4572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С точки зрения картинок, создание не </a:t>
            </a:r>
            <a:r>
              <a:rPr lang="en-US" sz="2400"/>
              <a:t>pdf, </a:t>
            </a:r>
            <a:r>
              <a:rPr lang="ru-RU" sz="2400"/>
              <a:t>а </a:t>
            </a:r>
            <a:r>
              <a:rPr lang="en-US" sz="2400"/>
              <a:t>dvi </a:t>
            </a:r>
            <a:r>
              <a:rPr lang="ru-RU" sz="2400"/>
              <a:t>или </a:t>
            </a:r>
            <a:r>
              <a:rPr lang="en-US" sz="2400"/>
              <a:t>ps --- </a:t>
            </a:r>
            <a:r>
              <a:rPr lang="ru-RU" sz="2400"/>
              <a:t>это другой мир.</a:t>
            </a:r>
            <a:br>
              <a:rPr lang="en-US" sz="2400"/>
            </a:br>
            <a:endParaRPr lang="en-US" sz="1200"/>
          </a:p>
        </p:txBody>
      </p:sp>
      <p:sp>
        <p:nvSpPr>
          <p:cNvPr id="2" name="Google Shape;89;p2">
            <a:extLst>
              <a:ext uri="{FF2B5EF4-FFF2-40B4-BE49-F238E27FC236}">
                <a16:creationId xmlns:a16="http://schemas.microsoft.com/office/drawing/2014/main" id="{EEF766D5-07A1-96E8-2CA7-3E64CEDA4EC9}"/>
              </a:ext>
            </a:extLst>
          </p:cNvPr>
          <p:cNvSpPr txBox="1"/>
          <p:nvPr/>
        </p:nvSpPr>
        <p:spPr>
          <a:xfrm>
            <a:off x="6687285" y="1153740"/>
            <a:ext cx="5504715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>
              <a:lnSpc>
                <a:spcPct val="120000"/>
              </a:lnSpc>
              <a:buSzPts val="2800"/>
              <a:defRPr/>
            </a:pPr>
            <a:endParaRPr lang="en-US" sz="2400"/>
          </a:p>
          <a:p>
            <a:pPr lvl="0" algn="ctr">
              <a:lnSpc>
                <a:spcPct val="120000"/>
              </a:lnSpc>
              <a:buSzPts val="2800"/>
              <a:defRPr/>
            </a:pPr>
            <a:r>
              <a:rPr lang="ru-RU" sz="3600"/>
              <a:t>То что скомпилировалось 10 лет назад не обязано компилироваться сейчас.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2375859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057E1158-B30C-1049-6C1F-6DC636874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2">
            <a:extLst>
              <a:ext uri="{FF2B5EF4-FFF2-40B4-BE49-F238E27FC236}">
                <a16:creationId xmlns:a16="http://schemas.microsoft.com/office/drawing/2014/main" id="{3E95474A-3794-52E0-9227-6C3F9E96991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23833"/>
            <a:ext cx="12191763" cy="175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>
            <a:extLst>
              <a:ext uri="{FF2B5EF4-FFF2-40B4-BE49-F238E27FC236}">
                <a16:creationId xmlns:a16="http://schemas.microsoft.com/office/drawing/2014/main" id="{95094945-2B49-F42B-017C-73A3E9A826E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6440" y="6297480"/>
            <a:ext cx="1640520" cy="39024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71C4B08F-BAE0-8D44-01AE-FAD267F4C8DF}"/>
              </a:ext>
            </a:extLst>
          </p:cNvPr>
          <p:cNvSpPr txBox="1"/>
          <p:nvPr/>
        </p:nvSpPr>
        <p:spPr>
          <a:xfrm>
            <a:off x="-321912" y="491160"/>
            <a:ext cx="12701880" cy="132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3200" b="1"/>
              <a:t>Выводы</a:t>
            </a: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1D64B42A-FB2B-1CD5-D92F-ABDFDFA550CB}"/>
              </a:ext>
            </a:extLst>
          </p:cNvPr>
          <p:cNvSpPr/>
          <p:nvPr/>
        </p:nvSpPr>
        <p:spPr>
          <a:xfrm>
            <a:off x="1764360" y="2405160"/>
            <a:ext cx="127018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2">
            <a:extLst>
              <a:ext uri="{FF2B5EF4-FFF2-40B4-BE49-F238E27FC236}">
                <a16:creationId xmlns:a16="http://schemas.microsoft.com/office/drawing/2014/main" id="{CCF07D39-DE40-2235-F2F5-C1E8CAA9B7E6}"/>
              </a:ext>
            </a:extLst>
          </p:cNvPr>
          <p:cNvSpPr txBox="1"/>
          <p:nvPr/>
        </p:nvSpPr>
        <p:spPr>
          <a:xfrm>
            <a:off x="698121" y="973807"/>
            <a:ext cx="5504715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63599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2800"/>
              <a:defRPr/>
            </a:pPr>
            <a:r>
              <a:rPr lang="ru-RU" sz="2400"/>
              <a:t>Когда использовать </a:t>
            </a:r>
            <a:r>
              <a:rPr lang="en-US" sz="2400"/>
              <a:t>TeX?</a:t>
            </a:r>
          </a:p>
          <a:p>
            <a:pPr marL="342900" lvl="0" indent="-3429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если много формул</a:t>
            </a:r>
          </a:p>
          <a:p>
            <a:pPr marL="342900" lvl="0" indent="-3429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если нужен постер</a:t>
            </a:r>
          </a:p>
          <a:p>
            <a:pPr marL="342900" lvl="0" indent="-3429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если презентация в академической среде</a:t>
            </a:r>
          </a:p>
          <a:p>
            <a:pPr marL="342900" lvl="0" indent="-3429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если хочется выделиться слайдами</a:t>
            </a:r>
            <a:endParaRPr lang="en-US" sz="2400"/>
          </a:p>
          <a:p>
            <a:pPr marL="342900" lvl="0" indent="-3429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если важна очень хорошая вёрстка</a:t>
            </a:r>
          </a:p>
          <a:p>
            <a:pPr marL="342900" lvl="0" indent="-3429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если используем </a:t>
            </a:r>
            <a:r>
              <a:rPr lang="en-US" sz="2400"/>
              <a:t>git</a:t>
            </a:r>
            <a:br>
              <a:rPr lang="en-US" sz="2400"/>
            </a:br>
            <a:endParaRPr lang="en-US" sz="1200"/>
          </a:p>
        </p:txBody>
      </p:sp>
      <p:sp>
        <p:nvSpPr>
          <p:cNvPr id="3" name="Google Shape;89;p2">
            <a:extLst>
              <a:ext uri="{FF2B5EF4-FFF2-40B4-BE49-F238E27FC236}">
                <a16:creationId xmlns:a16="http://schemas.microsoft.com/office/drawing/2014/main" id="{FC137738-8BA9-7DDA-0A64-8B80D229828B}"/>
              </a:ext>
            </a:extLst>
          </p:cNvPr>
          <p:cNvSpPr txBox="1"/>
          <p:nvPr/>
        </p:nvSpPr>
        <p:spPr>
          <a:xfrm>
            <a:off x="6687285" y="973807"/>
            <a:ext cx="5504715" cy="38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16000" marR="0" lvl="0" indent="-63599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  <a:p>
            <a:pPr lvl="0">
              <a:lnSpc>
                <a:spcPct val="120000"/>
              </a:lnSpc>
              <a:buSzPts val="2800"/>
              <a:defRPr/>
            </a:pPr>
            <a:r>
              <a:rPr lang="ru-RU" sz="2400"/>
              <a:t>Когда не использовать </a:t>
            </a:r>
            <a:r>
              <a:rPr lang="en-US" sz="2400"/>
              <a:t>TeX?</a:t>
            </a:r>
          </a:p>
          <a:p>
            <a:pPr marL="342900" lvl="0" indent="-3429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если нужно сделать презентацию за 1 час</a:t>
            </a:r>
          </a:p>
          <a:p>
            <a:pPr marL="342900" lvl="0" indent="-342900">
              <a:lnSpc>
                <a:spcPct val="120000"/>
              </a:lnSpc>
              <a:buSzPts val="2800"/>
              <a:buFont typeface="Arial" panose="020B0604020202020204" pitchFamily="34" charset="0"/>
              <a:buChar char="•"/>
              <a:defRPr/>
            </a:pPr>
            <a:r>
              <a:rPr lang="ru-RU" sz="2400"/>
              <a:t>если нужно следовать конкретному фиксированному шаблону, который не в </a:t>
            </a:r>
            <a:r>
              <a:rPr lang="en-US" sz="2400"/>
              <a:t>TeX</a:t>
            </a:r>
            <a:r>
              <a:rPr lang="ru-RU" sz="2400"/>
              <a:t> </a:t>
            </a:r>
            <a:br>
              <a:rPr lang="en-US" sz="2400"/>
            </a:b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613475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37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 txBox="1"/>
          <p:nvPr/>
        </p:nvSpPr>
        <p:spPr>
          <a:xfrm>
            <a:off x="692208" y="3340100"/>
            <a:ext cx="4090548" cy="459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tabLst/>
              <a:defRPr/>
            </a:pPr>
            <a:r>
              <a:rPr lang="ru-RU" sz="2400" noProof="0">
                <a:solidFill>
                  <a:srgbClr val="FFFFFF"/>
                </a:solidFill>
              </a:rPr>
              <a:t>Осипов Алексей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3"/>
          <p:cNvGrpSpPr/>
          <p:nvPr/>
        </p:nvGrpSpPr>
        <p:grpSpPr>
          <a:xfrm>
            <a:off x="1090837" y="4107672"/>
            <a:ext cx="3848807" cy="1295340"/>
            <a:chOff x="5386621" y="4333505"/>
            <a:chExt cx="3225280" cy="1295340"/>
          </a:xfrm>
        </p:grpSpPr>
        <p:pic>
          <p:nvPicPr>
            <p:cNvPr id="100" name="Google Shape;100;p3" descr="Icon&#10;&#10;Description automatically generated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386621" y="4973911"/>
              <a:ext cx="481320" cy="461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3" descr="Icon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386621" y="4333505"/>
              <a:ext cx="481320" cy="440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3"/>
            <p:cNvSpPr txBox="1"/>
            <p:nvPr/>
          </p:nvSpPr>
          <p:spPr>
            <a:xfrm>
              <a:off x="5933824" y="4396653"/>
              <a:ext cx="2678077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sz="1800">
                  <a:solidFill>
                    <a:srgbClr val="FFFFFF"/>
                  </a:solidFill>
                </a:rPr>
                <a:t>aosipov@usetech.ru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"/>
            <p:cNvSpPr txBox="1"/>
            <p:nvPr/>
          </p:nvSpPr>
          <p:spPr>
            <a:xfrm>
              <a:off x="5933823" y="5105665"/>
              <a:ext cx="2678077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>
                  <a:solidFill>
                    <a:schemeClr val="bg1"/>
                  </a:solidFill>
                </a:rPr>
                <a:t>@id22eb924caea242f69bacc91d45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3"/>
          <p:cNvSpPr txBox="1">
            <a:spLocks noGrp="1"/>
          </p:cNvSpPr>
          <p:nvPr>
            <p:ph type="ctrTitle"/>
          </p:nvPr>
        </p:nvSpPr>
        <p:spPr>
          <a:xfrm>
            <a:off x="181538" y="1384260"/>
            <a:ext cx="7607400" cy="17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-RU" sz="4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Оставить обратную связь по митапу</a:t>
            </a:r>
            <a:endParaRPr sz="4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861148" y="2058951"/>
            <a:ext cx="1273500" cy="721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92B7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 descr="Изображение выглядит как шаблон, зеленый, ткань, дизайн">
            <a:extLst>
              <a:ext uri="{FF2B5EF4-FFF2-40B4-BE49-F238E27FC236}">
                <a16:creationId xmlns:a16="http://schemas.microsoft.com/office/drawing/2014/main" id="{BB00A56F-A023-D1F0-0469-89CB3CE03C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2011" y="1756481"/>
            <a:ext cx="2228372" cy="22352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UsetechTemplate">
  <a:themeElements>
    <a:clrScheme name="Highloa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98D7E"/>
      </a:accent1>
      <a:accent2>
        <a:srgbClr val="4FBAFC"/>
      </a:accent2>
      <a:accent3>
        <a:srgbClr val="92DF70"/>
      </a:accent3>
      <a:accent4>
        <a:srgbClr val="FEE170"/>
      </a:accent4>
      <a:accent5>
        <a:srgbClr val="67EBDA"/>
      </a:accent5>
      <a:accent6>
        <a:srgbClr val="F876B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</TotalTime>
  <Words>971</Words>
  <Application>Microsoft Office PowerPoint</Application>
  <PresentationFormat>Широкоэкранный</PresentationFormat>
  <Paragraphs>196</Paragraphs>
  <Slides>31</Slides>
  <Notes>31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31</vt:i4>
      </vt:variant>
    </vt:vector>
  </HeadingPairs>
  <TitlesOfParts>
    <vt:vector size="37" baseType="lpstr">
      <vt:lpstr>Calibri</vt:lpstr>
      <vt:lpstr>Noto Sans Symbols</vt:lpstr>
      <vt:lpstr>Arial</vt:lpstr>
      <vt:lpstr>Times New Roman</vt:lpstr>
      <vt:lpstr>UsetechTemplate</vt:lpstr>
      <vt:lpstr>Office Theme</vt:lpstr>
      <vt:lpstr>Что такое TeX и зачем он нужен?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Оставить обратную связь по митапу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Mons Anderson</dc:creator>
  <cp:lastModifiedBy>osipovav28@gmail.com</cp:lastModifiedBy>
  <cp:revision>811</cp:revision>
  <dcterms:created xsi:type="dcterms:W3CDTF">2023-01-17T17:59:48Z</dcterms:created>
  <dcterms:modified xsi:type="dcterms:W3CDTF">2026-07-27T19:37:25Z</dcterms:modified>
</cp:coreProperties>
</file>